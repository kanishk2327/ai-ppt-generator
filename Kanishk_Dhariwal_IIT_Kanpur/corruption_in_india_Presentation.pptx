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Corruption in India: A Deep Dive</a:t>
            </a:r>
          </a:p>
        </p:txBody>
      </p:sp>
      <p:sp>
        <p:nvSpPr>
          <p:cNvPr id="3" name="Subtitle 2"/>
          <p:cNvSpPr>
            <a:spLocks noGrp="1"/>
          </p:cNvSpPr>
          <p:nvPr>
            <p:ph type="subTitle" idx="1"/>
          </p:nvPr>
        </p:nvSpPr>
        <p:spPr/>
        <p:txBody>
          <a:bodyPr wrap="square">
            <a:spAutoFit/>
          </a:bodyPr>
          <a:lstStyle/>
          <a:p>
            <a:r>
              <a:t>Understanding the Challenges and Exploring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wrap="square">
            <a:spAutoFit/>
          </a:bodyPr>
          <a:lstStyle/>
          <a:p>
            <a:pPr>
              <a:defRPr sz="1800"/>
            </a:pPr>
            <a:r>
              <a:t>Corruption in India is a pervasive issue impacting all levels of government and significantly hindering economic growth and societal development.</a:t>
            </a:r>
          </a:p>
          <a:p>
            <a:pPr>
              <a:defRPr sz="1800"/>
            </a:pPr>
            <a:r>
              <a:t>This presentation examines the various forms of corruption, its underlying causes, and the government's efforts to combat it.</a:t>
            </a:r>
          </a:p>
          <a:p>
            <a:pPr>
              <a:defRPr sz="1800"/>
            </a:pPr>
            <a:r>
              <a:t>We will also explore potential solutions and strategies for enhancing transparency and accountability in governance.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Types and Prevalence of Corruption</a:t>
            </a:r>
          </a:p>
        </p:txBody>
      </p:sp>
      <p:sp>
        <p:nvSpPr>
          <p:cNvPr id="3" name="Content Placeholder 2"/>
          <p:cNvSpPr>
            <a:spLocks noGrp="1"/>
          </p:cNvSpPr>
          <p:nvPr>
            <p:ph idx="1"/>
          </p:nvPr>
        </p:nvSpPr>
        <p:spPr/>
        <p:txBody>
          <a:bodyPr wrap="square">
            <a:spAutoFit/>
          </a:bodyPr>
          <a:lstStyle/>
          <a:p>
            <a:pPr>
              <a:defRPr sz="1800"/>
            </a:pPr>
            <a:r>
              <a:t>Petty corruption, involving everyday bribes and extortion, is widespread, particularly at the local level. This ranges from traffic fines to obtaining permits and licenses, impacting ordinary citizens the most.</a:t>
            </a:r>
          </a:p>
          <a:p>
            <a:pPr>
              <a:defRPr sz="1800"/>
            </a:pPr>
            <a:r>
              <a:t>Grand corruption, involving high-level officials and large sums of money, undermines major infrastructure projects, diverts public funds, and creates systemic inefficiencies. Examples include scams involving government contracts and land acquisition.</a:t>
            </a:r>
          </a:p>
          <a:p>
            <a:pPr>
              <a:defRPr sz="1800"/>
            </a:pPr>
            <a:r>
              <a:t>Political corruption, involving the misuse of political power for personal gain, influences policy decisions, weakens democratic institutions, and erodes public trust.  This can manifest in electoral malpractice, patronage networks, and lobbying.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Root Causes of Corruption</a:t>
            </a:r>
          </a:p>
        </p:txBody>
      </p:sp>
      <p:sp>
        <p:nvSpPr>
          <p:cNvPr id="3" name="Content Placeholder 2"/>
          <p:cNvSpPr>
            <a:spLocks noGrp="1"/>
          </p:cNvSpPr>
          <p:nvPr>
            <p:ph idx="1"/>
          </p:nvPr>
        </p:nvSpPr>
        <p:spPr/>
        <p:txBody>
          <a:bodyPr wrap="square">
            <a:spAutoFit/>
          </a:bodyPr>
          <a:lstStyle/>
          <a:p>
            <a:pPr>
              <a:defRPr sz="1800"/>
            </a:pPr>
            <a:r>
              <a:t>Lack of transparency and accountability in government processes creates opportunities for corruption to thrive.  Opaque decision-making, limited access to information, and weak oversight mechanisms allow for the misuse of public resources.</a:t>
            </a:r>
          </a:p>
          <a:p>
            <a:pPr>
              <a:defRPr sz="1800"/>
            </a:pPr>
            <a:r>
              <a:t>Low salaries and inadequate benefits for public officials can incentivize bribery and other forms of corruption.  The significant gap between official salaries and the cost of living in certain areas can lead to widespread acceptance of bribery as a means of supplementing income.</a:t>
            </a:r>
          </a:p>
          <a:p>
            <a:pPr>
              <a:defRPr sz="1800"/>
            </a:pPr>
            <a:r>
              <a:t>Weak enforcement of anti-corruption laws and a lack of political will to effectively address the problem perpetuates a culture of impunity. Inadequate investigation, prosecution, and sentencing create a lack of deterrents for corrupt individuals and institutions.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Government Initiatives and Reforms</a:t>
            </a:r>
          </a:p>
        </p:txBody>
      </p:sp>
      <p:sp>
        <p:nvSpPr>
          <p:cNvPr id="3" name="Content Placeholder 2"/>
          <p:cNvSpPr>
            <a:spLocks noGrp="1"/>
          </p:cNvSpPr>
          <p:nvPr>
            <p:ph idx="1"/>
          </p:nvPr>
        </p:nvSpPr>
        <p:spPr/>
        <p:txBody>
          <a:bodyPr wrap="square">
            <a:spAutoFit/>
          </a:bodyPr>
          <a:lstStyle/>
          <a:p>
            <a:pPr>
              <a:defRPr sz="1800"/>
            </a:pPr>
            <a:r>
              <a:t>The Right to Information Act (RTI) has empowered citizens to access government information, increasing transparency and accountability.  However, challenges remain in effectively implementing and enforcing the RTI Act, particularly in effectively addressing intimidation and threats to whistleblowers.</a:t>
            </a:r>
          </a:p>
          <a:p>
            <a:pPr>
              <a:defRPr sz="1800"/>
            </a:pPr>
            <a:r>
              <a:t>Initiatives like the Central Vigilance Commission (CVC) and the Lokpal aim to investigate and prosecute corruption cases.  However, their effectiveness has been debated, with concerns raised about the independence and resources available to these institutions to pursue high-profile cases effectively.</a:t>
            </a:r>
          </a:p>
          <a:p>
            <a:pPr>
              <a:defRPr sz="1800"/>
            </a:pPr>
            <a:r>
              <a:t>Digitalization and technological advancements can enhance transparency and streamline government processes, potentially reducing opportunities for corruption.  However, such initiatives must be accompanied by robust cybersecurity measures to protect sensitive information and systems from manipulation.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Strategies and Challenges</a:t>
            </a:r>
          </a:p>
        </p:txBody>
      </p:sp>
      <p:sp>
        <p:nvSpPr>
          <p:cNvPr id="3" name="Content Placeholder 2"/>
          <p:cNvSpPr>
            <a:spLocks noGrp="1"/>
          </p:cNvSpPr>
          <p:nvPr>
            <p:ph idx="1"/>
          </p:nvPr>
        </p:nvSpPr>
        <p:spPr/>
        <p:txBody>
          <a:bodyPr wrap="square">
            <a:spAutoFit/>
          </a:bodyPr>
          <a:lstStyle/>
          <a:p>
            <a:pPr>
              <a:defRPr sz="1800"/>
            </a:pPr>
            <a:r>
              <a:t>Strengthening institutions responsible for fighting corruption is crucial. This involves ensuring their independence, providing adequate resources, and empowering them to effectively investigate and prosecute cases without fear of political interference.  Protecting whistleblowers and witnesses is equally vital for successful prosecutions.</a:t>
            </a:r>
          </a:p>
          <a:p>
            <a:pPr>
              <a:defRPr sz="1800"/>
            </a:pPr>
            <a:r>
              <a:t>Promoting a culture of ethics and integrity through education and awareness campaigns is vital.  This involves instilling ethical values in public officials and encouraging citizens to report instances of corruption. Fostering civic participation and accountability mechanisms can also aid in the fight against corruption.</a:t>
            </a:r>
          </a:p>
          <a:p>
            <a:pPr>
              <a:defRPr sz="1800"/>
            </a:pPr>
            <a:r>
              <a:t>International cooperation and the sharing of best practices are crucial in combating transnational corruption.  Collaborating with international organizations and other countries to share information, coordinate investigations, and develop strategies for combating corruption can significantly enhance the effectiveness of anti-corruption efforts.  Extradition treaties and asset recovery mechanisms are also important tools in this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wrap="square">
            <a:spAutoFit/>
          </a:bodyPr>
          <a:lstStyle/>
          <a:p>
            <a:pPr>
              <a:defRPr sz="1800"/>
            </a:pPr>
            <a:r>
              <a:t>Corruption in India is a complex and multi-faceted problem that requires a multi-pronged approach involving strengthening institutions, promoting transparency, empowering citizens, and fostering a culture of integrity.</a:t>
            </a:r>
          </a:p>
          <a:p>
            <a:pPr>
              <a:defRPr sz="1800"/>
            </a:pPr>
            <a:r>
              <a:t>Sustained commitment from the government, civil society, and citizens is essential to effectively address this challenge and build a more just and equitable society.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